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76" r:id="rId3"/>
    <p:sldId id="274" r:id="rId4"/>
    <p:sldId id="27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1"/>
    <p:restoredTop sz="94741"/>
  </p:normalViewPr>
  <p:slideViewPr>
    <p:cSldViewPr snapToGrid="0">
      <p:cViewPr varScale="1">
        <p:scale>
          <a:sx n="114" d="100"/>
          <a:sy n="114" d="100"/>
        </p:scale>
        <p:origin x="6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E71CC-C940-AFC5-1A44-E446B47B6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57578E-8B83-2932-A935-00649CCA5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25DEE3-4612-BC6A-98B4-391951F5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94CC7-1450-D941-83F8-9C1D8AA2963C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FF98FC-C8F5-D866-9AD9-6D461072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9D1BE4-92B8-75EA-262A-CB6DD32B5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18CAE-1339-5748-9F72-7F88C88197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2802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154989-F207-96DB-420A-C3A3C6061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02457B-750A-2AA9-7213-E2BB476D5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E1A8AB-A1E3-8336-AA0C-956447371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94CC7-1450-D941-83F8-9C1D8AA2963C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600A59-4C0F-AC96-3093-7711D611D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09E7DA-A698-BA43-8840-122DB2E9D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18CAE-1339-5748-9F72-7F88C88197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1894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BB4CF1-BCA6-2129-4628-92684022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B4D8F3-4CA9-083F-A653-044E0D3D1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7A4E1-F8C4-F5B2-A296-BFBC0E049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94CC7-1450-D941-83F8-9C1D8AA2963C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8CFFA5-8696-0406-F711-DDBE1627F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3DF85F-4F7D-F26F-45ED-F87F73E0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18CAE-1339-5748-9F72-7F88C88197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9637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5194E7-F000-2104-ABBF-985099F4E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D034E9-328C-37F1-4231-58E2DDFB4F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408F89-B4D7-68A1-2492-7F4B5431C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C66D71-6F1D-7945-88CA-3377F01E7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94CC7-1450-D941-83F8-9C1D8AA2963C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802079-1D06-0A8C-3366-C2C92F6AE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27C9A2-FFF1-01C5-E99D-24279E322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18CAE-1339-5748-9F72-7F88C88197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9151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AAAF2-94F7-8A3D-6029-92DB1BFF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9352FA-2548-5E9F-026F-910ADF9E6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24FB87-0497-B241-C7A9-4C457E1D3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E85282-4977-DE29-5A9C-6BEC9E97E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19642B-BA35-B710-34E8-FE6760B376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705FCF-1346-CF1D-4445-554B6E486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94CC7-1450-D941-83F8-9C1D8AA2963C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CE308B8-41B7-81DF-476F-EDDE8FE2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D220BA4-1AB8-85D2-754D-C7842575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18CAE-1339-5748-9F72-7F88C88197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962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3A30A-6CE2-3CFA-2314-2B5DB0E69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E01B8F-5007-CEFF-02CF-D58670D09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94CC7-1450-D941-83F8-9C1D8AA2963C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F7A9E8-EBBE-16C7-76D4-6652837F8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E2AC68-D0FC-F54A-645A-7CCFD910F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18CAE-1339-5748-9F72-7F88C88197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436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D58E3C-2D29-E13F-C3BF-BA3754FF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94CC7-1450-D941-83F8-9C1D8AA2963C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FC96320-4442-331D-B798-E8ADF627A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D5B3F4-18DB-CC68-B1F5-CE5CED4D6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18CAE-1339-5748-9F72-7F88C88197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2139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5E570-F931-7058-94BC-531B63126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F865F7-1DF2-3347-114F-54DD4AF6F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556BB7-D9C3-C756-74BB-D0B51F611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E574F4-861A-B96A-B2F7-B0DD991FF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94CC7-1450-D941-83F8-9C1D8AA2963C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916EE6-098F-9516-94FB-35506EDE7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89504B-FF11-95FC-4815-06F551C5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18CAE-1339-5748-9F72-7F88C88197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4855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6D821-1493-B8EA-D085-237D829D0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E0B8DA-0D19-6233-60E7-D79B344BE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E7E3B5-DF46-78E5-ACA7-3A3E98F32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03AD2E-4A39-404A-1B03-FB964CB17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94CC7-1450-D941-83F8-9C1D8AA2963C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FB21FA-35DB-BA4A-2B70-502EB4FB6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AB4E50-2241-E052-2616-902D4ED7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18CAE-1339-5748-9F72-7F88C88197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379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50861-FA67-AD23-BBE9-CD4685DF2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791245-BD71-4D06-0555-ACAC2BA7B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ED359F-934F-C75F-4E1A-DE764363C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94CC7-1450-D941-83F8-9C1D8AA2963C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426870-3532-47A6-2909-87AF609FC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7195A9-FFC9-EB72-66AF-2EA1F405A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18CAE-1339-5748-9F72-7F88C88197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876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03616C-3B8D-95BC-F137-173C8BCF3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EA02D0-27E9-F912-98FD-8BEC3E8E8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7DA451-5117-BAEC-8F89-78A6B04A7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94CC7-1450-D941-83F8-9C1D8AA2963C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83EAA3-940E-EFBC-B2B0-3EE319FF4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FFC1D4-6692-DCDE-88EF-E0DD49D0D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18CAE-1339-5748-9F72-7F88C88197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786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694B10F-818C-2E0C-1295-BA098C443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CB7A70-9FCE-39F4-692C-D0AB5A8DF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EAEAEB-C1D8-5339-9284-E704139040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094CC7-1450-D941-83F8-9C1D8AA2963C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125BBB-77E5-46D9-B836-BFDDCBD7A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D434FC-FAA6-AFE8-C586-D5B2FA476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018CAE-1339-5748-9F72-7F88C88197E4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6F94798-27C4-8E4E-8541-8E394CAA13D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3725" y="6530340"/>
            <a:ext cx="8763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900">
                <a:solidFill>
                  <a:srgbClr val="008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C1 -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22271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8CFEB-8607-A0D6-4569-15924DE19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ADCB8B4-F64D-CC2E-D848-3D337F44A8FB}"/>
              </a:ext>
            </a:extLst>
          </p:cNvPr>
          <p:cNvSpPr txBox="1"/>
          <p:nvPr/>
        </p:nvSpPr>
        <p:spPr>
          <a:xfrm>
            <a:off x="217323" y="161682"/>
            <a:ext cx="6407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大多数人们认为的如何和</a:t>
            </a:r>
            <a:r>
              <a:rPr kumimoji="1" lang="en-US" altLang="zh-CN" sz="2400" b="1" dirty="0"/>
              <a:t>AI</a:t>
            </a:r>
            <a:r>
              <a:rPr kumimoji="1" lang="zh-CN" altLang="en-US" sz="2400" b="1" dirty="0"/>
              <a:t>协作产出一个</a:t>
            </a:r>
            <a:r>
              <a:rPr kumimoji="1" lang="en-US" altLang="zh-CN" sz="2400" b="1" dirty="0"/>
              <a:t>PRD</a:t>
            </a:r>
            <a:endParaRPr kumimoji="1" lang="zh-CN" altLang="en-US" sz="2400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DAED0EE-CDC3-6A01-9F6B-DDE0F2A8EE0B}"/>
              </a:ext>
            </a:extLst>
          </p:cNvPr>
          <p:cNvSpPr txBox="1"/>
          <p:nvPr/>
        </p:nvSpPr>
        <p:spPr>
          <a:xfrm>
            <a:off x="1234733" y="1315845"/>
            <a:ext cx="9722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先通过</a:t>
            </a:r>
            <a:r>
              <a:rPr kumimoji="1" lang="en-US" altLang="zh-CN" dirty="0"/>
              <a:t>AI</a:t>
            </a:r>
            <a:r>
              <a:rPr kumimoji="1" lang="zh-CN" altLang="en-US" dirty="0"/>
              <a:t>把散乱的需求和想法整理成详细的文字文档，再导入到</a:t>
            </a:r>
            <a:r>
              <a:rPr kumimoji="1" lang="en-US" altLang="zh-CN" dirty="0"/>
              <a:t>AI</a:t>
            </a:r>
            <a:r>
              <a:rPr kumimoji="1" lang="zh-CN" altLang="en-US" dirty="0"/>
              <a:t>生成</a:t>
            </a:r>
            <a:r>
              <a:rPr kumimoji="1" lang="en-US" altLang="zh-CN" dirty="0"/>
              <a:t>Figma/HTML</a:t>
            </a:r>
            <a:r>
              <a:rPr kumimoji="1" lang="zh-CN" altLang="en-US" dirty="0"/>
              <a:t>作为原型。</a:t>
            </a:r>
            <a:endParaRPr kumimoji="1" lang="en-US" altLang="zh-CN" dirty="0"/>
          </a:p>
          <a:p>
            <a:r>
              <a:rPr kumimoji="1" lang="zh-CN" altLang="en-US" dirty="0"/>
              <a:t>原型包含后端的字段和计算的逻辑、页面的逻辑和交互，且用户、团队和</a:t>
            </a:r>
            <a:r>
              <a:rPr kumimoji="1" lang="en-US" altLang="zh-CN" dirty="0"/>
              <a:t>AI</a:t>
            </a:r>
            <a:r>
              <a:rPr kumimoji="1" lang="zh-CN" altLang="en-US" dirty="0"/>
              <a:t>均可理解</a:t>
            </a:r>
            <a:endParaRPr kumimoji="1"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A3C660-801A-744E-68A9-2FA29F46476E}"/>
              </a:ext>
            </a:extLst>
          </p:cNvPr>
          <p:cNvSpPr txBox="1"/>
          <p:nvPr/>
        </p:nvSpPr>
        <p:spPr>
          <a:xfrm>
            <a:off x="735981" y="2654674"/>
            <a:ext cx="2954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7200" b="1" i="1" dirty="0">
                <a:solidFill>
                  <a:srgbClr val="FF0000"/>
                </a:solidFill>
              </a:rPr>
              <a:t>有误！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670731-3C35-ECB5-04E0-9F152F05306E}"/>
              </a:ext>
            </a:extLst>
          </p:cNvPr>
          <p:cNvSpPr txBox="1"/>
          <p:nvPr/>
        </p:nvSpPr>
        <p:spPr>
          <a:xfrm>
            <a:off x="4218868" y="2365112"/>
            <a:ext cx="437171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模型的能力限制</a:t>
            </a:r>
            <a:endParaRPr kumimoji="1"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文档难以完整描述所有的需求、场景和交互</a:t>
            </a:r>
            <a:endParaRPr kumimoji="1"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文字难以精确描述</a:t>
            </a:r>
            <a:r>
              <a:rPr kumimoji="1" lang="en-US" altLang="zh-CN" sz="1600" dirty="0"/>
              <a:t>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大量文字对人类阅读极不友好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DEDB76E6-93F5-4236-0CCF-4C2696176A6A}"/>
              </a:ext>
            </a:extLst>
          </p:cNvPr>
          <p:cNvCxnSpPr>
            <a:cxnSpLocks/>
          </p:cNvCxnSpPr>
          <p:nvPr/>
        </p:nvCxnSpPr>
        <p:spPr>
          <a:xfrm>
            <a:off x="5723089" y="3669341"/>
            <a:ext cx="0" cy="831764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61FF2B9-B74F-DE23-52EB-BC5BA95D1C2E}"/>
              </a:ext>
            </a:extLst>
          </p:cNvPr>
          <p:cNvSpPr txBox="1"/>
          <p:nvPr/>
        </p:nvSpPr>
        <p:spPr>
          <a:xfrm>
            <a:off x="5762007" y="3900557"/>
            <a:ext cx="543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/>
              <a:t>导致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BBD22C-43DB-07E5-3803-1C692BA24973}"/>
              </a:ext>
            </a:extLst>
          </p:cNvPr>
          <p:cNvSpPr txBox="1"/>
          <p:nvPr/>
        </p:nvSpPr>
        <p:spPr>
          <a:xfrm>
            <a:off x="1234733" y="506303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文字文档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FF3564C-C0F9-E1AD-37C5-EEC5C5DB0995}"/>
              </a:ext>
            </a:extLst>
          </p:cNvPr>
          <p:cNvSpPr txBox="1"/>
          <p:nvPr/>
        </p:nvSpPr>
        <p:spPr>
          <a:xfrm>
            <a:off x="8846491" y="5051283"/>
            <a:ext cx="29899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Figma/Coding</a:t>
            </a:r>
            <a:r>
              <a:rPr kumimoji="1" lang="zh-CN" altLang="en-US" sz="2400" dirty="0"/>
              <a:t>产出物</a:t>
            </a: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8D712A65-8020-98AD-FF1A-EA3B86ED59C6}"/>
              </a:ext>
            </a:extLst>
          </p:cNvPr>
          <p:cNvCxnSpPr>
            <a:cxnSpLocks/>
          </p:cNvCxnSpPr>
          <p:nvPr/>
        </p:nvCxnSpPr>
        <p:spPr>
          <a:xfrm>
            <a:off x="2843841" y="5282115"/>
            <a:ext cx="583633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FF68A83A-9E02-163C-B183-3FA6A7584FE0}"/>
              </a:ext>
            </a:extLst>
          </p:cNvPr>
          <p:cNvSpPr txBox="1"/>
          <p:nvPr/>
        </p:nvSpPr>
        <p:spPr>
          <a:xfrm>
            <a:off x="4351017" y="4938640"/>
            <a:ext cx="299953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300" dirty="0"/>
              <a:t>转换过程实质是</a:t>
            </a:r>
            <a:r>
              <a:rPr kumimoji="1" lang="en-US" altLang="zh-CN" sz="1300" dirty="0"/>
              <a:t>AI</a:t>
            </a:r>
            <a:r>
              <a:rPr kumimoji="1" lang="zh-CN" altLang="en-US" sz="1300" dirty="0"/>
              <a:t>黑箱，人类无法监控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B80EB86-7EC2-F146-CF49-189D617AE8F1}"/>
              </a:ext>
            </a:extLst>
          </p:cNvPr>
          <p:cNvSpPr txBox="1"/>
          <p:nvPr/>
        </p:nvSpPr>
        <p:spPr>
          <a:xfrm>
            <a:off x="3064348" y="5366754"/>
            <a:ext cx="53174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300" dirty="0"/>
              <a:t>一旦需求出偏差和变化，会频繁在这里 </a:t>
            </a:r>
            <a:r>
              <a:rPr kumimoji="1" lang="zh-CN" altLang="en-US" sz="1300" b="1" i="1" dirty="0"/>
              <a:t>来回拉扯  </a:t>
            </a:r>
            <a:r>
              <a:rPr kumimoji="1" lang="zh-CN" altLang="en-US" sz="1300" dirty="0"/>
              <a:t>，且 </a:t>
            </a:r>
            <a:r>
              <a:rPr kumimoji="1" lang="zh-CN" altLang="en-US" sz="1300" b="1" i="1" dirty="0"/>
              <a:t>产出物极不稳定</a:t>
            </a:r>
          </a:p>
        </p:txBody>
      </p:sp>
    </p:spTree>
    <p:extLst>
      <p:ext uri="{BB962C8B-B14F-4D97-AF65-F5344CB8AC3E}">
        <p14:creationId xmlns:p14="http://schemas.microsoft.com/office/powerpoint/2010/main" val="774272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F809F-FD54-6FCD-3B7B-06A598210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970813A-1219-867F-FED3-AC76D24934AC}"/>
              </a:ext>
            </a:extLst>
          </p:cNvPr>
          <p:cNvSpPr txBox="1"/>
          <p:nvPr/>
        </p:nvSpPr>
        <p:spPr>
          <a:xfrm>
            <a:off x="217323" y="161682"/>
            <a:ext cx="5075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人类和</a:t>
            </a:r>
            <a:r>
              <a:rPr kumimoji="1" lang="en-US" altLang="zh-CN" sz="2400" b="1" dirty="0"/>
              <a:t>AI</a:t>
            </a:r>
            <a:r>
              <a:rPr kumimoji="1" lang="zh-CN" altLang="en-US" sz="2400" b="1" dirty="0"/>
              <a:t>如何协作产出一个</a:t>
            </a:r>
            <a:r>
              <a:rPr kumimoji="1" lang="en-US" altLang="zh-CN" sz="2400" b="1" dirty="0"/>
              <a:t>PRD</a:t>
            </a:r>
            <a:r>
              <a:rPr kumimoji="1" lang="zh-CN" altLang="en-US" sz="2400" b="1" dirty="0"/>
              <a:t>流程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9D4174-5690-B448-FD29-82FE44B49652}"/>
              </a:ext>
            </a:extLst>
          </p:cNvPr>
          <p:cNvSpPr txBox="1"/>
          <p:nvPr/>
        </p:nvSpPr>
        <p:spPr>
          <a:xfrm>
            <a:off x="1325303" y="1196844"/>
            <a:ext cx="210826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/>
              <a:t>将松散的需求和业务场景</a:t>
            </a:r>
            <a:endParaRPr kumimoji="1" lang="en-US" altLang="zh-CN" sz="1200" b="1" dirty="0"/>
          </a:p>
          <a:p>
            <a:r>
              <a:rPr kumimoji="1" lang="zh-CN" altLang="en-US" sz="1200" b="1" dirty="0"/>
              <a:t>通过</a:t>
            </a:r>
            <a:r>
              <a:rPr kumimoji="1" lang="en-US" altLang="zh-CN" sz="1200" b="1" dirty="0"/>
              <a:t>AI</a:t>
            </a:r>
            <a:r>
              <a:rPr kumimoji="1" lang="zh-CN" altLang="en-US" sz="1200" b="1" dirty="0"/>
              <a:t>汇总严谨的文字文档</a:t>
            </a:r>
            <a:endParaRPr kumimoji="1" lang="en-US" altLang="zh-CN" sz="1200" b="1" dirty="0"/>
          </a:p>
          <a:p>
            <a:endParaRPr kumimoji="1" lang="en-US" altLang="zh-CN" sz="1200" b="1" dirty="0"/>
          </a:p>
          <a:p>
            <a:r>
              <a:rPr kumimoji="1" lang="zh-CN" altLang="en-US" sz="1000" dirty="0"/>
              <a:t>输入的内容没有格式和标准，想到</a:t>
            </a:r>
            <a:endParaRPr kumimoji="1" lang="en-US" altLang="zh-CN" sz="1000" dirty="0"/>
          </a:p>
          <a:p>
            <a:r>
              <a:rPr kumimoji="1" lang="zh-CN" altLang="en-US" sz="1000" dirty="0"/>
              <a:t>什么输入什么。但要求</a:t>
            </a:r>
            <a:r>
              <a:rPr kumimoji="1" lang="en-US" altLang="zh-CN" sz="1000" dirty="0"/>
              <a:t>AI</a:t>
            </a:r>
            <a:r>
              <a:rPr kumimoji="1" lang="zh-CN" altLang="en-US" sz="1000" dirty="0"/>
              <a:t>按照</a:t>
            </a:r>
            <a:r>
              <a:rPr kumimoji="1" lang="en-US" altLang="zh-CN" sz="1000" dirty="0"/>
              <a:t>.md</a:t>
            </a:r>
          </a:p>
          <a:p>
            <a:r>
              <a:rPr kumimoji="1" lang="zh-CN" altLang="en-US" sz="1000" dirty="0"/>
              <a:t>格式结构性输出汇总</a:t>
            </a:r>
            <a:endParaRPr kumimoji="1" lang="en-US" altLang="zh-CN" sz="1000" dirty="0"/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DE4106DE-771F-0740-5546-97EA51955AA0}"/>
              </a:ext>
            </a:extLst>
          </p:cNvPr>
          <p:cNvCxnSpPr/>
          <p:nvPr/>
        </p:nvCxnSpPr>
        <p:spPr>
          <a:xfrm>
            <a:off x="3582629" y="1724628"/>
            <a:ext cx="118035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6FD8EC6-015C-E0E2-14B2-DC32073841F4}"/>
              </a:ext>
            </a:extLst>
          </p:cNvPr>
          <p:cNvSpPr txBox="1"/>
          <p:nvPr/>
        </p:nvSpPr>
        <p:spPr>
          <a:xfrm>
            <a:off x="5248724" y="1185269"/>
            <a:ext cx="2274982" cy="1269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/>
              <a:t>驱动</a:t>
            </a:r>
            <a:r>
              <a:rPr kumimoji="1" lang="en-US" altLang="zh-CN" sz="1200" b="1" dirty="0"/>
              <a:t>AI</a:t>
            </a:r>
            <a:r>
              <a:rPr kumimoji="1" lang="zh-CN" altLang="en-US" sz="1200" b="1" dirty="0"/>
              <a:t>生成</a:t>
            </a:r>
            <a:r>
              <a:rPr lang="zh-CN" altLang="en-US" sz="1200" b="1" dirty="0"/>
              <a:t>系统地图</a:t>
            </a:r>
            <a:endParaRPr lang="en-US" altLang="zh-CN" sz="1200" b="1" dirty="0"/>
          </a:p>
          <a:p>
            <a:endParaRPr kumimoji="1" lang="en-US" altLang="zh-CN" sz="1200" dirty="0"/>
          </a:p>
          <a:p>
            <a:r>
              <a:rPr lang="zh-CN" altLang="en-US" sz="1050" dirty="0"/>
              <a:t>系统地图只回答这几个问题：</a:t>
            </a:r>
          </a:p>
          <a:p>
            <a:r>
              <a:rPr lang="en-US" altLang="zh-CN" sz="1050" dirty="0"/>
              <a:t>1</a:t>
            </a:r>
            <a:r>
              <a:rPr lang="zh-CN" altLang="en-US" sz="1050" dirty="0"/>
              <a:t>，系统里有哪几个核心模块？</a:t>
            </a:r>
          </a:p>
          <a:p>
            <a:r>
              <a:rPr lang="en-US" altLang="zh-CN" sz="1050" dirty="0"/>
              <a:t>2</a:t>
            </a:r>
            <a:r>
              <a:rPr lang="zh-CN" altLang="en-US" sz="1050" dirty="0"/>
              <a:t>，不同角色分别会进入哪些模块？</a:t>
            </a:r>
          </a:p>
          <a:p>
            <a:r>
              <a:rPr lang="en-US" altLang="zh-CN" sz="1050" dirty="0"/>
              <a:t>3</a:t>
            </a:r>
            <a:r>
              <a:rPr lang="zh-CN" altLang="en-US" sz="1050" dirty="0"/>
              <a:t>，每个模块解决什么问题？</a:t>
            </a:r>
          </a:p>
          <a:p>
            <a:r>
              <a:rPr lang="en-US" altLang="zh-CN" sz="1050" dirty="0"/>
              <a:t>4</a:t>
            </a:r>
            <a:r>
              <a:rPr lang="zh-CN" altLang="en-US" sz="1050" dirty="0"/>
              <a:t>，模块之间怎么关联？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260CA2-950C-0D4A-CAA8-3820ACABC208}"/>
              </a:ext>
            </a:extLst>
          </p:cNvPr>
          <p:cNvSpPr txBox="1"/>
          <p:nvPr/>
        </p:nvSpPr>
        <p:spPr>
          <a:xfrm>
            <a:off x="5248724" y="912377"/>
            <a:ext cx="10262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工具：</a:t>
            </a:r>
            <a:r>
              <a:rPr lang="en" altLang="zh-CN" sz="1100" dirty="0" err="1"/>
              <a:t>FigJam</a:t>
            </a:r>
            <a:endParaRPr lang="en" altLang="zh-CN" sz="11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09990E5-CC0C-FEC6-7070-B5D76A9E9226}"/>
              </a:ext>
            </a:extLst>
          </p:cNvPr>
          <p:cNvSpPr txBox="1"/>
          <p:nvPr/>
        </p:nvSpPr>
        <p:spPr>
          <a:xfrm>
            <a:off x="1325303" y="928311"/>
            <a:ext cx="17828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工具：</a:t>
            </a:r>
            <a:r>
              <a:rPr lang="zh-CN" altLang="en" sz="1100" dirty="0"/>
              <a:t>豆包</a:t>
            </a:r>
            <a:r>
              <a:rPr lang="zh-CN" altLang="en-US" sz="1100" dirty="0"/>
              <a:t> </a:t>
            </a:r>
            <a:r>
              <a:rPr lang="en-US" altLang="zh-CN" sz="1100" dirty="0"/>
              <a:t>/</a:t>
            </a:r>
            <a:r>
              <a:rPr lang="zh-CN" altLang="en-US" sz="1100" dirty="0"/>
              <a:t> </a:t>
            </a:r>
            <a:r>
              <a:rPr lang="en-US" altLang="zh-CN" sz="1100" dirty="0" err="1"/>
              <a:t>lorealGPT</a:t>
            </a:r>
            <a:r>
              <a:rPr lang="zh-CN" altLang="en-US" sz="1100" dirty="0"/>
              <a:t> 等</a:t>
            </a:r>
            <a:endParaRPr lang="en" altLang="zh-CN" sz="1100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AB6B2BB-6285-DB87-13BA-F5087C5A9FAC}"/>
              </a:ext>
            </a:extLst>
          </p:cNvPr>
          <p:cNvCxnSpPr/>
          <p:nvPr/>
        </p:nvCxnSpPr>
        <p:spPr>
          <a:xfrm>
            <a:off x="7855616" y="1723966"/>
            <a:ext cx="118035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DF27EF9-2938-3825-0185-F9AAB6503A0D}"/>
              </a:ext>
            </a:extLst>
          </p:cNvPr>
          <p:cNvSpPr txBox="1"/>
          <p:nvPr/>
        </p:nvSpPr>
        <p:spPr>
          <a:xfrm>
            <a:off x="9476166" y="1168192"/>
            <a:ext cx="198002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/>
              <a:t>驱动</a:t>
            </a:r>
            <a:r>
              <a:rPr kumimoji="1" lang="en-US" altLang="zh-CN" sz="1200" b="1" dirty="0"/>
              <a:t>AI</a:t>
            </a:r>
            <a:r>
              <a:rPr kumimoji="1" lang="zh-CN" altLang="en-US" sz="1200" b="1" dirty="0"/>
              <a:t>任务流程图</a:t>
            </a:r>
            <a:endParaRPr kumimoji="1" lang="en-US" altLang="zh-CN" sz="1200" b="1" dirty="0"/>
          </a:p>
          <a:p>
            <a:endParaRPr kumimoji="1" lang="en-US" altLang="zh-CN" sz="1200" dirty="0"/>
          </a:p>
          <a:p>
            <a:r>
              <a:rPr lang="zh-CN" altLang="en-US" sz="1000" dirty="0"/>
              <a:t>每条流程只围绕一个目标展开：</a:t>
            </a:r>
          </a:p>
          <a:p>
            <a:r>
              <a:rPr lang="en-US" altLang="zh-CN" sz="1000" dirty="0"/>
              <a:t>1</a:t>
            </a:r>
            <a:r>
              <a:rPr lang="zh-CN" altLang="en-US" sz="1000" dirty="0"/>
              <a:t>，用户从哪里进入？</a:t>
            </a:r>
          </a:p>
          <a:p>
            <a:r>
              <a:rPr lang="en-US" altLang="zh-CN" sz="1000" dirty="0"/>
              <a:t>2</a:t>
            </a:r>
            <a:r>
              <a:rPr lang="zh-CN" altLang="en-US" sz="1000" dirty="0"/>
              <a:t>，中间做哪些决策？</a:t>
            </a:r>
          </a:p>
          <a:p>
            <a:r>
              <a:rPr lang="en-US" altLang="zh-CN" sz="1000" dirty="0"/>
              <a:t>3</a:t>
            </a:r>
            <a:r>
              <a:rPr lang="zh-CN" altLang="en-US" sz="1000" dirty="0"/>
              <a:t>，会经过哪些关键页面？</a:t>
            </a:r>
          </a:p>
          <a:p>
            <a:r>
              <a:rPr lang="en-US" altLang="zh-CN" sz="1000" dirty="0"/>
              <a:t>4</a:t>
            </a:r>
            <a:r>
              <a:rPr lang="zh-CN" altLang="en-US" sz="1000" dirty="0"/>
              <a:t>，最终到什么结果？</a:t>
            </a:r>
          </a:p>
          <a:p>
            <a:r>
              <a:rPr lang="en-US" altLang="zh-CN" sz="1000" dirty="0"/>
              <a:t>5</a:t>
            </a:r>
            <a:r>
              <a:rPr lang="zh-CN" altLang="en-US" sz="1000" dirty="0"/>
              <a:t>，异常情况怎么处理？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F40D9A1-3E7C-A4AE-CC47-0A1DF9BF13AD}"/>
              </a:ext>
            </a:extLst>
          </p:cNvPr>
          <p:cNvSpPr txBox="1"/>
          <p:nvPr/>
        </p:nvSpPr>
        <p:spPr>
          <a:xfrm>
            <a:off x="9476166" y="912377"/>
            <a:ext cx="10262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工具：</a:t>
            </a:r>
            <a:r>
              <a:rPr lang="en" altLang="zh-CN" sz="1100" dirty="0" err="1"/>
              <a:t>FigJam</a:t>
            </a:r>
            <a:endParaRPr lang="en" altLang="zh-CN" sz="11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D20465-26B7-00E7-C14C-5C7672A66FDE}"/>
              </a:ext>
            </a:extLst>
          </p:cNvPr>
          <p:cNvSpPr txBox="1"/>
          <p:nvPr/>
        </p:nvSpPr>
        <p:spPr>
          <a:xfrm>
            <a:off x="9476166" y="3901746"/>
            <a:ext cx="2175596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/>
              <a:t>驱动</a:t>
            </a:r>
            <a:r>
              <a:rPr kumimoji="1" lang="en-US" altLang="zh-CN" sz="1200" b="1" dirty="0"/>
              <a:t>AI</a:t>
            </a:r>
            <a:r>
              <a:rPr kumimoji="1" lang="zh-CN" altLang="en-US" sz="1200" b="1" dirty="0"/>
              <a:t>生成</a:t>
            </a:r>
            <a:r>
              <a:rPr kumimoji="1" lang="en-US" altLang="zh-CN" sz="1200" b="1" dirty="0"/>
              <a:t>UI</a:t>
            </a:r>
            <a:r>
              <a:rPr kumimoji="1" lang="zh-CN" altLang="en-US" sz="1200" b="1" dirty="0"/>
              <a:t>交互设计图</a:t>
            </a:r>
            <a:endParaRPr kumimoji="1" lang="en-US" altLang="zh-CN" sz="1200" b="1" dirty="0"/>
          </a:p>
          <a:p>
            <a:endParaRPr kumimoji="1" lang="en-US" altLang="zh-CN" sz="1200" dirty="0"/>
          </a:p>
          <a:p>
            <a:r>
              <a:rPr lang="en-US" altLang="zh-CN" sz="1000" dirty="0"/>
              <a:t>1</a:t>
            </a:r>
            <a:r>
              <a:rPr lang="zh-CN" altLang="en-US" sz="1000" dirty="0"/>
              <a:t>，</a:t>
            </a:r>
            <a:r>
              <a:rPr lang="en-US" altLang="zh-CN" sz="1000" dirty="0"/>
              <a:t>UI</a:t>
            </a:r>
            <a:r>
              <a:rPr lang="zh-CN" altLang="en-US" sz="1000" dirty="0"/>
              <a:t>明确展示：</a:t>
            </a:r>
          </a:p>
          <a:p>
            <a:r>
              <a:rPr lang="en-US" altLang="zh-CN" sz="1000" dirty="0"/>
              <a:t>2</a:t>
            </a:r>
            <a:r>
              <a:rPr lang="zh-CN" altLang="en-US" sz="1000" dirty="0"/>
              <a:t>，当前页面的信息结构</a:t>
            </a:r>
          </a:p>
          <a:p>
            <a:r>
              <a:rPr lang="en-US" altLang="zh-CN" sz="1000" dirty="0"/>
              <a:t>3</a:t>
            </a:r>
            <a:r>
              <a:rPr lang="zh-CN" altLang="en-US" sz="1000" dirty="0"/>
              <a:t>，页面内交互</a:t>
            </a:r>
          </a:p>
          <a:p>
            <a:r>
              <a:rPr lang="en-US" altLang="zh-CN" sz="1000" dirty="0"/>
              <a:t>4</a:t>
            </a:r>
            <a:r>
              <a:rPr lang="zh-CN" altLang="en-US" sz="1000" dirty="0"/>
              <a:t>，页面 </a:t>
            </a:r>
            <a:r>
              <a:rPr lang="en" altLang="zh-CN" sz="1000" dirty="0"/>
              <a:t>A </a:t>
            </a:r>
            <a:r>
              <a:rPr lang="zh-CN" altLang="en-US" sz="1000" dirty="0"/>
              <a:t>到页面 </a:t>
            </a:r>
            <a:r>
              <a:rPr lang="en" altLang="zh-CN" sz="1000" dirty="0"/>
              <a:t>B </a:t>
            </a:r>
            <a:r>
              <a:rPr lang="zh-CN" altLang="en-US" sz="1000" dirty="0"/>
              <a:t>的局部跳转</a:t>
            </a:r>
          </a:p>
          <a:p>
            <a:r>
              <a:rPr lang="en-US" altLang="zh-CN" sz="1000" dirty="0"/>
              <a:t>5</a:t>
            </a:r>
            <a:r>
              <a:rPr lang="zh-CN" altLang="en-US" sz="1000" dirty="0"/>
              <a:t>，弹窗、抽屉、空状态、异常状态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F4C181A-10E4-E591-340F-A87043B3D97A}"/>
              </a:ext>
            </a:extLst>
          </p:cNvPr>
          <p:cNvSpPr txBox="1"/>
          <p:nvPr/>
        </p:nvSpPr>
        <p:spPr>
          <a:xfrm>
            <a:off x="9476166" y="3645931"/>
            <a:ext cx="1435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工具：</a:t>
            </a:r>
            <a:r>
              <a:rPr lang="en" altLang="zh-CN" sz="1100" dirty="0"/>
              <a:t>Figma</a:t>
            </a:r>
            <a:r>
              <a:rPr lang="zh-CN" altLang="en-US" sz="1100" dirty="0"/>
              <a:t> </a:t>
            </a:r>
            <a:r>
              <a:rPr lang="en-US" altLang="zh-CN" sz="1100" dirty="0"/>
              <a:t>Design</a:t>
            </a:r>
            <a:endParaRPr lang="en" altLang="zh-CN" sz="11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B6349455-27A2-C1B2-34FD-E68A02E1AC24}"/>
              </a:ext>
            </a:extLst>
          </p:cNvPr>
          <p:cNvCxnSpPr>
            <a:cxnSpLocks/>
          </p:cNvCxnSpPr>
          <p:nvPr/>
        </p:nvCxnSpPr>
        <p:spPr>
          <a:xfrm>
            <a:off x="9998863" y="2663445"/>
            <a:ext cx="0" cy="7655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741D2FB5-51DE-C37E-898C-290DBA95A2FF}"/>
              </a:ext>
            </a:extLst>
          </p:cNvPr>
          <p:cNvCxnSpPr/>
          <p:nvPr/>
        </p:nvCxnSpPr>
        <p:spPr>
          <a:xfrm>
            <a:off x="7855616" y="4473561"/>
            <a:ext cx="118035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62F0329-3B32-337D-67DF-942E02ED3B8C}"/>
              </a:ext>
            </a:extLst>
          </p:cNvPr>
          <p:cNvSpPr txBox="1"/>
          <p:nvPr/>
        </p:nvSpPr>
        <p:spPr>
          <a:xfrm>
            <a:off x="5248724" y="3913321"/>
            <a:ext cx="24256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/>
              <a:t>驱动</a:t>
            </a:r>
            <a:r>
              <a:rPr kumimoji="1" lang="en-US" altLang="zh-CN" sz="1200" b="1" dirty="0"/>
              <a:t>AI</a:t>
            </a:r>
            <a:r>
              <a:rPr kumimoji="1" lang="zh-CN" altLang="en-US" sz="1200" b="1" dirty="0"/>
              <a:t>生成页面间逻辑图</a:t>
            </a:r>
            <a:endParaRPr kumimoji="1" lang="en-US" altLang="zh-CN" sz="1200" b="1" dirty="0"/>
          </a:p>
          <a:p>
            <a:endParaRPr kumimoji="1" lang="en-US" altLang="zh-CN" sz="1200" dirty="0"/>
          </a:p>
          <a:p>
            <a:r>
              <a:rPr lang="zh-CN" altLang="en-US" sz="1000" dirty="0"/>
              <a:t>明确界定：</a:t>
            </a:r>
          </a:p>
          <a:p>
            <a:r>
              <a:rPr lang="en-US" altLang="zh-CN" sz="1000" dirty="0"/>
              <a:t>1</a:t>
            </a:r>
            <a:r>
              <a:rPr lang="zh-CN" altLang="en-US" sz="1000" dirty="0"/>
              <a:t>，页面间的跳转说明</a:t>
            </a:r>
          </a:p>
          <a:p>
            <a:r>
              <a:rPr lang="en-US" altLang="zh-CN" sz="1000" dirty="0"/>
              <a:t>2</a:t>
            </a:r>
            <a:r>
              <a:rPr lang="zh-CN" altLang="en-US" sz="1000" dirty="0"/>
              <a:t>，每个页面的完整 </a:t>
            </a:r>
            <a:r>
              <a:rPr lang="en-US" altLang="zh-CN" sz="1000" dirty="0"/>
              <a:t>6 </a:t>
            </a:r>
            <a:r>
              <a:rPr lang="zh-CN" altLang="en-US" sz="1000" dirty="0"/>
              <a:t>件事说明</a:t>
            </a:r>
            <a:endParaRPr lang="en-US" altLang="zh-CN" sz="1000" dirty="0"/>
          </a:p>
          <a:p>
            <a:r>
              <a:rPr lang="zh-CN" altLang="en-US" sz="1000" dirty="0"/>
              <a:t> </a:t>
            </a:r>
            <a:r>
              <a:rPr lang="en-US" altLang="zh-CN" sz="1000" dirty="0"/>
              <a:t>(</a:t>
            </a:r>
            <a:r>
              <a:rPr lang="zh-CN" altLang="en-US" sz="1000" dirty="0"/>
              <a:t>名称 </a:t>
            </a:r>
            <a:r>
              <a:rPr lang="en-US" altLang="zh-CN" sz="1000" dirty="0"/>
              <a:t>/ </a:t>
            </a:r>
            <a:r>
              <a:rPr lang="zh-CN" altLang="en-US" sz="1000" dirty="0"/>
              <a:t>目标 </a:t>
            </a:r>
            <a:r>
              <a:rPr lang="en-US" altLang="zh-CN" sz="1000" dirty="0"/>
              <a:t>/ </a:t>
            </a:r>
            <a:r>
              <a:rPr lang="zh-CN" altLang="en-US" sz="1000" dirty="0"/>
              <a:t>进入 </a:t>
            </a:r>
            <a:r>
              <a:rPr lang="en-US" altLang="zh-CN" sz="1000" dirty="0"/>
              <a:t>/ </a:t>
            </a:r>
            <a:r>
              <a:rPr lang="zh-CN" altLang="en-US" sz="1000" dirty="0"/>
              <a:t>动作 </a:t>
            </a:r>
            <a:r>
              <a:rPr lang="en-US" altLang="zh-CN" sz="1000" dirty="0"/>
              <a:t>/ </a:t>
            </a:r>
            <a:r>
              <a:rPr lang="zh-CN" altLang="en-US" sz="1000" dirty="0"/>
              <a:t>跳转 </a:t>
            </a:r>
            <a:r>
              <a:rPr lang="en-US" altLang="zh-CN" sz="1000" dirty="0"/>
              <a:t>/ </a:t>
            </a:r>
            <a:r>
              <a:rPr lang="zh-CN" altLang="en-US" sz="1000" dirty="0"/>
              <a:t>异常</a:t>
            </a:r>
            <a:r>
              <a:rPr lang="en-US" altLang="zh-CN" sz="1000" dirty="0"/>
              <a:t>)</a:t>
            </a:r>
            <a:endParaRPr lang="zh-CN" altLang="en-US" sz="1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BD2F806-A9F4-E395-222C-59FAAFFFB870}"/>
              </a:ext>
            </a:extLst>
          </p:cNvPr>
          <p:cNvSpPr txBox="1"/>
          <p:nvPr/>
        </p:nvSpPr>
        <p:spPr>
          <a:xfrm>
            <a:off x="5248724" y="3657506"/>
            <a:ext cx="1435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工具：</a:t>
            </a:r>
            <a:r>
              <a:rPr lang="en" altLang="zh-CN" sz="1100" dirty="0"/>
              <a:t>Figma</a:t>
            </a:r>
            <a:r>
              <a:rPr lang="zh-CN" altLang="en-US" sz="1100" dirty="0"/>
              <a:t> </a:t>
            </a:r>
            <a:r>
              <a:rPr lang="en-US" altLang="zh-CN" sz="1100" dirty="0"/>
              <a:t>Design</a:t>
            </a:r>
            <a:endParaRPr lang="en" altLang="zh-CN" sz="11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E3CBAF1-41DF-DFAD-58F7-1865AF61B6A3}"/>
              </a:ext>
            </a:extLst>
          </p:cNvPr>
          <p:cNvSpPr txBox="1"/>
          <p:nvPr/>
        </p:nvSpPr>
        <p:spPr>
          <a:xfrm>
            <a:off x="1325303" y="3913321"/>
            <a:ext cx="1980029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/>
              <a:t>驱动</a:t>
            </a:r>
            <a:r>
              <a:rPr kumimoji="1" lang="en-US" altLang="zh-CN" sz="1200" b="1" dirty="0"/>
              <a:t>AI</a:t>
            </a:r>
            <a:r>
              <a:rPr kumimoji="1" lang="zh-CN" altLang="en-US" sz="1200" b="1" dirty="0"/>
              <a:t>生成轻量</a:t>
            </a:r>
            <a:r>
              <a:rPr kumimoji="1" lang="en-US" altLang="zh-CN" sz="1200" b="1" dirty="0"/>
              <a:t>HTML</a:t>
            </a:r>
            <a:r>
              <a:rPr kumimoji="1" lang="zh-CN" altLang="en-US" sz="1200" b="1" dirty="0"/>
              <a:t>原型</a:t>
            </a:r>
            <a:endParaRPr kumimoji="1" lang="en-US" altLang="zh-CN" sz="1200" b="1" dirty="0"/>
          </a:p>
          <a:p>
            <a:endParaRPr kumimoji="1" lang="en-US" altLang="zh-CN" sz="1200" dirty="0"/>
          </a:p>
          <a:p>
            <a:r>
              <a:rPr lang="zh-CN" altLang="en-US" sz="1000" dirty="0"/>
              <a:t>协助用户理解整个系统：</a:t>
            </a:r>
          </a:p>
          <a:p>
            <a:r>
              <a:rPr lang="en-US" altLang="zh-CN" sz="1000" dirty="0"/>
              <a:t>1</a:t>
            </a:r>
            <a:r>
              <a:rPr lang="zh-CN" altLang="en-US" sz="1000" dirty="0"/>
              <a:t>，核心任务流</a:t>
            </a:r>
          </a:p>
          <a:p>
            <a:r>
              <a:rPr lang="en-US" altLang="zh-CN" sz="1000" dirty="0"/>
              <a:t>2</a:t>
            </a:r>
            <a:r>
              <a:rPr lang="zh-CN" altLang="en-US" sz="1000" dirty="0"/>
              <a:t>，关键跨页交互</a:t>
            </a:r>
          </a:p>
          <a:p>
            <a:r>
              <a:rPr lang="en-US" altLang="zh-CN" sz="1000" dirty="0"/>
              <a:t>3</a:t>
            </a:r>
            <a:r>
              <a:rPr lang="zh-CN" altLang="en-US" sz="1000" dirty="0"/>
              <a:t>，容易靠静态稿看不懂的交互</a:t>
            </a:r>
          </a:p>
          <a:p>
            <a:r>
              <a:rPr lang="en-US" altLang="zh-CN" sz="1000" dirty="0"/>
              <a:t>4</a:t>
            </a:r>
            <a:r>
              <a:rPr lang="zh-CN" altLang="en-US" sz="1000" dirty="0"/>
              <a:t>，用户最关心的状态变化</a:t>
            </a:r>
          </a:p>
          <a:p>
            <a:r>
              <a:rPr lang="en-US" altLang="zh-CN" sz="1000" dirty="0"/>
              <a:t>5</a:t>
            </a:r>
            <a:r>
              <a:rPr lang="zh-CN" altLang="en-US" sz="1000" dirty="0"/>
              <a:t>，最容易产生误解的流程</a:t>
            </a:r>
          </a:p>
          <a:p>
            <a:r>
              <a:rPr lang="en-US" altLang="zh-CN" sz="1000" dirty="0"/>
              <a:t>6</a:t>
            </a:r>
            <a:r>
              <a:rPr lang="zh-CN" altLang="en-US" sz="1000" dirty="0"/>
              <a:t>，最需要“代入感”的页面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1786A1A-E4FB-0282-71B0-9C35A2129234}"/>
              </a:ext>
            </a:extLst>
          </p:cNvPr>
          <p:cNvSpPr txBox="1"/>
          <p:nvPr/>
        </p:nvSpPr>
        <p:spPr>
          <a:xfrm>
            <a:off x="1325303" y="3657506"/>
            <a:ext cx="23134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工具：</a:t>
            </a:r>
            <a:r>
              <a:rPr lang="en-US" altLang="zh-CN" sz="1100" dirty="0"/>
              <a:t>Claude</a:t>
            </a:r>
            <a:r>
              <a:rPr lang="zh-CN" altLang="en-US" sz="1100" dirty="0"/>
              <a:t> </a:t>
            </a:r>
            <a:r>
              <a:rPr lang="en-US" altLang="zh-CN" sz="1100" dirty="0"/>
              <a:t>Design</a:t>
            </a:r>
            <a:r>
              <a:rPr lang="zh-CN" altLang="en-US" sz="1100" dirty="0"/>
              <a:t> </a:t>
            </a:r>
            <a:r>
              <a:rPr lang="en-US" altLang="zh-CN" sz="1100" dirty="0"/>
              <a:t>/</a:t>
            </a:r>
            <a:r>
              <a:rPr lang="zh-CN" altLang="en-US" sz="1100" dirty="0"/>
              <a:t> </a:t>
            </a:r>
            <a:r>
              <a:rPr lang="en-US" altLang="zh-CN" sz="1100" dirty="0"/>
              <a:t>Open</a:t>
            </a:r>
            <a:r>
              <a:rPr lang="zh-CN" altLang="en-US" sz="1100" dirty="0"/>
              <a:t> </a:t>
            </a:r>
            <a:r>
              <a:rPr lang="en-US" altLang="zh-CN" sz="1100" dirty="0"/>
              <a:t>Code</a:t>
            </a:r>
            <a:endParaRPr lang="en" altLang="zh-CN" sz="1100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8937C42C-9771-C4F4-254E-98F2A59D0859}"/>
              </a:ext>
            </a:extLst>
          </p:cNvPr>
          <p:cNvCxnSpPr/>
          <p:nvPr/>
        </p:nvCxnSpPr>
        <p:spPr>
          <a:xfrm>
            <a:off x="3582629" y="4437569"/>
            <a:ext cx="118035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E035B819-2785-4B64-CB8A-917C1837C369}"/>
              </a:ext>
            </a:extLst>
          </p:cNvPr>
          <p:cNvSpPr txBox="1"/>
          <p:nvPr/>
        </p:nvSpPr>
        <p:spPr>
          <a:xfrm>
            <a:off x="2811519" y="5851993"/>
            <a:ext cx="692689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FF0000"/>
                </a:solidFill>
              </a:rPr>
              <a:t>*</a:t>
            </a:r>
            <a:r>
              <a:rPr kumimoji="1" lang="zh-CN" altLang="en-US" sz="1100" dirty="0"/>
              <a:t> 每个节点均使用双箭头。因为随着节点的渐进式推进，会遇到新的变化。我们鼓励</a:t>
            </a:r>
            <a:r>
              <a:rPr kumimoji="1" lang="en-US" altLang="zh-CN" sz="1100" dirty="0"/>
              <a:t>AI</a:t>
            </a:r>
            <a:r>
              <a:rPr kumimoji="1" lang="zh-CN" altLang="en-US" sz="1100" dirty="0"/>
              <a:t>回写和完善已有文档。</a:t>
            </a:r>
            <a:endParaRPr kumimoji="1" lang="en-US" altLang="zh-CN" sz="1100" dirty="0"/>
          </a:p>
          <a:p>
            <a:r>
              <a:rPr kumimoji="1" lang="zh-CN" altLang="en-US" sz="1100" dirty="0"/>
              <a:t>所有的产出物均是</a:t>
            </a:r>
            <a:r>
              <a:rPr kumimoji="1" lang="en-US" altLang="zh-CN" sz="1100" dirty="0"/>
              <a:t>PRD</a:t>
            </a:r>
            <a:r>
              <a:rPr kumimoji="1" lang="zh-CN" altLang="en-US" sz="1100" dirty="0"/>
              <a:t>的一部分</a:t>
            </a:r>
            <a:endParaRPr kumimoji="1" lang="en-US" altLang="zh-CN" sz="11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7E5E1EC-DE41-426C-5E62-58BFD19EF749}"/>
              </a:ext>
            </a:extLst>
          </p:cNvPr>
          <p:cNvSpPr txBox="1"/>
          <p:nvPr/>
        </p:nvSpPr>
        <p:spPr>
          <a:xfrm>
            <a:off x="311678" y="148923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流程起点</a:t>
            </a:r>
            <a:endParaRPr kumimoji="1"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C81904-910D-8E62-4E13-F2B02FFD914B}"/>
              </a:ext>
            </a:extLst>
          </p:cNvPr>
          <p:cNvSpPr txBox="1"/>
          <p:nvPr/>
        </p:nvSpPr>
        <p:spPr>
          <a:xfrm>
            <a:off x="311469" y="4321125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流程终点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0537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6873A-14A7-0E6C-E0EB-092E905E0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642CEF6-E8B8-EEFF-45C7-3DDDEBE0B6BB}"/>
              </a:ext>
            </a:extLst>
          </p:cNvPr>
          <p:cNvSpPr txBox="1"/>
          <p:nvPr/>
        </p:nvSpPr>
        <p:spPr>
          <a:xfrm>
            <a:off x="217323" y="161682"/>
            <a:ext cx="5791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实践后，人类和</a:t>
            </a:r>
            <a:r>
              <a:rPr kumimoji="1" lang="en-US" altLang="zh-CN" sz="2400" b="1" dirty="0"/>
              <a:t>AI</a:t>
            </a:r>
            <a:r>
              <a:rPr kumimoji="1" lang="zh-CN" altLang="en-US" sz="2400" b="1" dirty="0"/>
              <a:t>如何协作产出一个</a:t>
            </a:r>
            <a:r>
              <a:rPr kumimoji="1" lang="en-US" altLang="zh-CN" sz="2400" b="1" dirty="0"/>
              <a:t>PRD</a:t>
            </a:r>
            <a:endParaRPr kumimoji="1" lang="zh-CN" altLang="en-US" sz="2400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F1DDFD7-DF03-0350-B0E5-53F56D58A1FC}"/>
              </a:ext>
            </a:extLst>
          </p:cNvPr>
          <p:cNvSpPr txBox="1"/>
          <p:nvPr/>
        </p:nvSpPr>
        <p:spPr>
          <a:xfrm>
            <a:off x="3862856" y="1307940"/>
            <a:ext cx="4466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/>
              <a:t>拆解任务，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渐进式</a:t>
            </a:r>
            <a:r>
              <a:rPr kumimoji="1" lang="zh-CN" altLang="en-US" sz="2800" b="1" dirty="0"/>
              <a:t>生成</a:t>
            </a:r>
            <a:r>
              <a:rPr kumimoji="1" lang="en-US" altLang="zh-CN" sz="2800" b="1" dirty="0"/>
              <a:t>PRD</a:t>
            </a:r>
            <a:endParaRPr kumimoji="1" lang="zh-CN" altLang="en-US" sz="2800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844174B-1566-D61B-889F-91858F3BDB33}"/>
              </a:ext>
            </a:extLst>
          </p:cNvPr>
          <p:cNvSpPr txBox="1"/>
          <p:nvPr/>
        </p:nvSpPr>
        <p:spPr>
          <a:xfrm>
            <a:off x="1015542" y="2430684"/>
            <a:ext cx="10932801" cy="3374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必须澄清的概念：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en-US" altLang="zh-CN" b="1" i="1" dirty="0"/>
              <a:t>PRD</a:t>
            </a:r>
            <a:r>
              <a:rPr kumimoji="1" lang="zh-CN" altLang="en-US" b="1" i="1" dirty="0"/>
              <a:t>不是单类型文档。</a:t>
            </a:r>
            <a:r>
              <a:rPr kumimoji="1" lang="en-US" altLang="zh-CN" dirty="0"/>
              <a:t>AI</a:t>
            </a:r>
            <a:r>
              <a:rPr kumimoji="1" lang="zh-CN" altLang="en-US" dirty="0"/>
              <a:t>时代我们不建议只使用一种形式的文档，特别是纯文字文档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b="1" i="1" dirty="0"/>
              <a:t>人类主导。</a:t>
            </a:r>
            <a:r>
              <a:rPr kumimoji="1" lang="en-US" altLang="zh-CN" dirty="0"/>
              <a:t>AI</a:t>
            </a:r>
            <a:r>
              <a:rPr kumimoji="1" lang="zh-CN" altLang="en-US" dirty="0"/>
              <a:t>模型能力参差不齐，需要人类规范和指引</a:t>
            </a:r>
            <a:r>
              <a:rPr kumimoji="1" lang="en-US" altLang="zh-CN" dirty="0"/>
              <a:t>AI</a:t>
            </a:r>
            <a:r>
              <a:rPr kumimoji="1" lang="zh-CN" altLang="en-US" dirty="0"/>
              <a:t>思维链和产出中间物</a:t>
            </a:r>
            <a:r>
              <a:rPr kumimoji="1" lang="zh-CN" altLang="en-US" sz="1200" dirty="0"/>
              <a:t>（类似</a:t>
            </a:r>
            <a:r>
              <a:rPr kumimoji="1" lang="en-US" altLang="zh-CN" sz="1200" dirty="0"/>
              <a:t>Coding</a:t>
            </a:r>
            <a:r>
              <a:rPr kumimoji="1" lang="zh-CN" altLang="en-US" sz="1200" dirty="0"/>
              <a:t>使用 </a:t>
            </a:r>
            <a:r>
              <a:rPr kumimoji="1" lang="en-US" altLang="zh-CN" sz="1200" dirty="0" err="1"/>
              <a:t>OpenSpec</a:t>
            </a:r>
            <a:r>
              <a:rPr kumimoji="1" lang="zh-CN" altLang="en-US" sz="1200" dirty="0"/>
              <a:t>）</a:t>
            </a:r>
            <a:endParaRPr kumimoji="1" lang="en-US" altLang="zh-CN" sz="12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b="1" i="1" dirty="0">
                <a:solidFill>
                  <a:srgbClr val="FF0000"/>
                </a:solidFill>
              </a:rPr>
              <a:t>渐进式生成。</a:t>
            </a:r>
            <a:r>
              <a:rPr kumimoji="1" lang="zh-CN" altLang="en-US" dirty="0"/>
              <a:t>必须强制拆解整个</a:t>
            </a:r>
            <a:r>
              <a:rPr kumimoji="1" lang="en-US" altLang="zh-CN" dirty="0"/>
              <a:t>PRD</a:t>
            </a:r>
            <a:r>
              <a:rPr kumimoji="1" lang="zh-CN" altLang="en-US" dirty="0"/>
              <a:t>生成链路，以敏捷调整需求 和 取得人类</a:t>
            </a:r>
            <a:r>
              <a:rPr kumimoji="1" lang="en-US" altLang="zh-CN" dirty="0"/>
              <a:t>-AI</a:t>
            </a:r>
            <a:r>
              <a:rPr kumimoji="1" lang="zh-CN" altLang="en-US" dirty="0"/>
              <a:t>的共识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b="1" i="1" dirty="0"/>
              <a:t>责任到人。</a:t>
            </a:r>
            <a:r>
              <a:rPr kumimoji="1" lang="zh-CN" altLang="en-US" dirty="0"/>
              <a:t>人类必须针对每个</a:t>
            </a:r>
            <a:r>
              <a:rPr kumimoji="1" lang="en-US" altLang="zh-CN" dirty="0"/>
              <a:t>AI</a:t>
            </a:r>
            <a:r>
              <a:rPr kumimoji="1" lang="zh-CN" altLang="en-US" dirty="0"/>
              <a:t>节点进行审查，只有同意才能进入下一节点。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b="1" i="1" dirty="0"/>
              <a:t>理解犯错。</a:t>
            </a:r>
            <a:r>
              <a:rPr kumimoji="1" lang="zh-CN" altLang="en-US" dirty="0"/>
              <a:t>对待人和</a:t>
            </a:r>
            <a:r>
              <a:rPr kumimoji="1" lang="en-US" altLang="zh-CN" dirty="0"/>
              <a:t>AI</a:t>
            </a:r>
            <a:r>
              <a:rPr kumimoji="1" lang="zh-CN" altLang="en-US" dirty="0"/>
              <a:t>犯错要有耐心，世界上没有一蹴而就的完美方案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en-US" altLang="zh-CN" b="1" i="1" dirty="0"/>
              <a:t>AI</a:t>
            </a:r>
            <a:r>
              <a:rPr kumimoji="1" lang="zh-CN" altLang="en-US" b="1" i="1" dirty="0"/>
              <a:t>不是为了提速，而是为了</a:t>
            </a:r>
            <a:r>
              <a:rPr kumimoji="1" lang="zh-CN" altLang="en-US" b="1" i="1" dirty="0">
                <a:solidFill>
                  <a:srgbClr val="FF0000"/>
                </a:solidFill>
              </a:rPr>
              <a:t>提质</a:t>
            </a:r>
            <a:r>
              <a:rPr kumimoji="1" lang="zh-CN" altLang="en-US" b="1" i="1" dirty="0"/>
              <a:t>。</a:t>
            </a:r>
            <a:r>
              <a:rPr kumimoji="1" lang="zh-CN" altLang="en-US" dirty="0"/>
              <a:t>使用</a:t>
            </a:r>
            <a:r>
              <a:rPr kumimoji="1" lang="en-US" altLang="zh-CN" dirty="0"/>
              <a:t>AI</a:t>
            </a:r>
            <a:r>
              <a:rPr kumimoji="1" lang="zh-CN" altLang="en-US" dirty="0"/>
              <a:t>生成</a:t>
            </a:r>
            <a:r>
              <a:rPr kumimoji="1" lang="en-US" altLang="zh-CN" dirty="0"/>
              <a:t>PRD</a:t>
            </a:r>
            <a:r>
              <a:rPr kumimoji="1" lang="zh-CN" altLang="en-US" dirty="0"/>
              <a:t>现阶段并不会大幅提升效率，但可以针对后续的流程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大幅提升质量。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7066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B94A3-B6B6-2CE7-7E7C-C44B5A27C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F9DB2804-FEC4-4C24-F227-1779EB5E0EE8}"/>
              </a:ext>
            </a:extLst>
          </p:cNvPr>
          <p:cNvSpPr txBox="1"/>
          <p:nvPr/>
        </p:nvSpPr>
        <p:spPr>
          <a:xfrm>
            <a:off x="217323" y="16168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下一步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CCB825-3B9D-E118-1B31-3C4151538822}"/>
              </a:ext>
            </a:extLst>
          </p:cNvPr>
          <p:cNvSpPr txBox="1"/>
          <p:nvPr/>
        </p:nvSpPr>
        <p:spPr>
          <a:xfrm>
            <a:off x="1116974" y="1192192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使用最先进的技术 </a:t>
            </a:r>
            <a:r>
              <a:rPr kumimoji="1" lang="zh-CN" altLang="en-US" b="1" i="1" dirty="0"/>
              <a:t>力大砖飞地  </a:t>
            </a:r>
            <a:r>
              <a:rPr kumimoji="1" lang="zh-CN" altLang="en-US" dirty="0"/>
              <a:t>验证整个流程是否能在生产落地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421775-6BB2-3DB9-F21A-1217AE637463}"/>
              </a:ext>
            </a:extLst>
          </p:cNvPr>
          <p:cNvSpPr txBox="1"/>
          <p:nvPr/>
        </p:nvSpPr>
        <p:spPr>
          <a:xfrm>
            <a:off x="1116974" y="1561524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使用</a:t>
            </a:r>
            <a:r>
              <a:rPr kumimoji="1" lang="en-US" altLang="zh-CN" sz="1200" dirty="0"/>
              <a:t>AI</a:t>
            </a:r>
            <a:r>
              <a:rPr kumimoji="1" lang="zh-CN" altLang="en-US" sz="1200" dirty="0"/>
              <a:t>生成</a:t>
            </a:r>
            <a:r>
              <a:rPr kumimoji="1" lang="en-US" altLang="zh-CN" sz="1200" dirty="0"/>
              <a:t>PRD</a:t>
            </a:r>
            <a:r>
              <a:rPr kumimoji="1" lang="zh-CN" altLang="en-US" sz="1200" dirty="0"/>
              <a:t>是否可行？</a:t>
            </a:r>
            <a:endParaRPr kumimoji="1" lang="en-US" altLang="zh-CN" sz="1200" dirty="0"/>
          </a:p>
          <a:p>
            <a:r>
              <a:rPr kumimoji="1" lang="zh-CN" altLang="en-US" sz="1200" dirty="0"/>
              <a:t>可行的话要怎么生成？</a:t>
            </a:r>
            <a:endParaRPr kumimoji="1" lang="en-US" altLang="zh-CN" sz="1200" dirty="0"/>
          </a:p>
          <a:p>
            <a:r>
              <a:rPr kumimoji="1" lang="zh-CN" altLang="en-US" sz="1200" dirty="0"/>
              <a:t>生成后是否可以落地到生产环境？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880E765-EB02-2494-78C0-5EA15A6F3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615" y="1044238"/>
            <a:ext cx="840451" cy="84045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B358D754-330D-CDB0-CBCE-CD85E9143ECB}"/>
              </a:ext>
            </a:extLst>
          </p:cNvPr>
          <p:cNvSpPr txBox="1"/>
          <p:nvPr/>
        </p:nvSpPr>
        <p:spPr>
          <a:xfrm>
            <a:off x="1116974" y="2913896"/>
            <a:ext cx="7234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针对最先进的技术进行 </a:t>
            </a:r>
            <a:r>
              <a:rPr kumimoji="1" lang="zh-CN" altLang="en-US" b="1" i="1" dirty="0"/>
              <a:t>蒸馏和迁移 </a:t>
            </a:r>
            <a:r>
              <a:rPr kumimoji="1" lang="zh-CN" altLang="en-US" dirty="0"/>
              <a:t>，使其能在国产模型和工具上使用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762A250-53D9-D152-4699-8EF901BC5087}"/>
              </a:ext>
            </a:extLst>
          </p:cNvPr>
          <p:cNvSpPr txBox="1"/>
          <p:nvPr/>
        </p:nvSpPr>
        <p:spPr>
          <a:xfrm>
            <a:off x="1116974" y="3283228"/>
            <a:ext cx="2339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如何适配国产模型和工具？</a:t>
            </a:r>
            <a:endParaRPr kumimoji="1" lang="en-US" altLang="zh-CN" sz="1200" dirty="0"/>
          </a:p>
          <a:p>
            <a:r>
              <a:rPr kumimoji="1" lang="zh-CN" altLang="en-US" sz="1200" dirty="0"/>
              <a:t>如何输出一份好的</a:t>
            </a:r>
            <a:r>
              <a:rPr kumimoji="1" lang="en-US" altLang="zh-CN" sz="1200" dirty="0"/>
              <a:t>Skill</a:t>
            </a:r>
            <a:r>
              <a:rPr kumimoji="1" lang="zh-CN" altLang="en-US" sz="1200" dirty="0"/>
              <a:t>？</a:t>
            </a:r>
            <a:endParaRPr kumimoji="1" lang="en-US" altLang="zh-CN" sz="1200" dirty="0"/>
          </a:p>
          <a:p>
            <a:r>
              <a:rPr kumimoji="1" lang="zh-CN" altLang="en-US" sz="1200" dirty="0"/>
              <a:t>如何在团队中落地到生产环境？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7EA6DAE-6BBC-C31D-42FF-4EA26C340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541" y="2737128"/>
            <a:ext cx="1244600" cy="10922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FE1D648B-236F-1BFA-9300-59DEED835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974" y="4280813"/>
            <a:ext cx="2995511" cy="2274716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F4EC362C-B439-EF90-6FEB-43AFAFB43B8F}"/>
              </a:ext>
            </a:extLst>
          </p:cNvPr>
          <p:cNvSpPr txBox="1"/>
          <p:nvPr/>
        </p:nvSpPr>
        <p:spPr>
          <a:xfrm>
            <a:off x="4440961" y="5418171"/>
            <a:ext cx="371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合作在做的</a:t>
            </a:r>
            <a:r>
              <a:rPr kumimoji="1" lang="en-US" altLang="zh-CN" dirty="0"/>
              <a:t>Skill</a:t>
            </a:r>
            <a:r>
              <a:rPr kumimoji="1" lang="zh-CN" altLang="en-US" dirty="0"/>
              <a:t>：</a:t>
            </a:r>
            <a:r>
              <a:rPr kumimoji="1" lang="en-US" altLang="zh-CN" dirty="0"/>
              <a:t>p</a:t>
            </a:r>
            <a:r>
              <a:rPr kumimoji="1" lang="en" altLang="zh-CN" dirty="0" err="1"/>
              <a:t>roduct_manager</a:t>
            </a:r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FB3F7B4-1A0E-1B3A-C379-590771D12BC8}"/>
              </a:ext>
            </a:extLst>
          </p:cNvPr>
          <p:cNvSpPr txBox="1"/>
          <p:nvPr/>
        </p:nvSpPr>
        <p:spPr>
          <a:xfrm>
            <a:off x="1116974" y="2575836"/>
            <a:ext cx="18966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FF0000"/>
                </a:solidFill>
              </a:rPr>
              <a:t>*</a:t>
            </a:r>
            <a:r>
              <a:rPr kumimoji="1" lang="zh-CN" altLang="en-US" sz="1000" b="1" dirty="0"/>
              <a:t> </a:t>
            </a:r>
            <a:r>
              <a:rPr kumimoji="1" lang="zh-CN" altLang="en-US" sz="1000" dirty="0"/>
              <a:t> </a:t>
            </a:r>
            <a:r>
              <a:rPr kumimoji="1" lang="zh-CN" altLang="en-US" sz="1100" dirty="0"/>
              <a:t>此部分和志杰合作进行中</a:t>
            </a:r>
          </a:p>
        </p:txBody>
      </p:sp>
    </p:spTree>
    <p:extLst>
      <p:ext uri="{BB962C8B-B14F-4D97-AF65-F5344CB8AC3E}">
        <p14:creationId xmlns:p14="http://schemas.microsoft.com/office/powerpoint/2010/main" val="543721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3708</TotalTime>
  <Words>775</Words>
  <Application>Microsoft Macintosh PowerPoint</Application>
  <PresentationFormat>宽屏</PresentationFormat>
  <Paragraphs>88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LIANG Ic [Buycoor]</dc:creator>
  <cp:lastModifiedBy>LIANG Ic [Buycoor]</cp:lastModifiedBy>
  <cp:revision>3</cp:revision>
  <dcterms:created xsi:type="dcterms:W3CDTF">2026-04-07T15:03:30Z</dcterms:created>
  <dcterms:modified xsi:type="dcterms:W3CDTF">2026-04-28T06:51:14Z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3b7177-c66c-4b22-a350-7ee86f9a1e74_Enabled">
    <vt:lpwstr>true</vt:lpwstr>
  </property>
  <property fmtid="{D5CDD505-2E9C-101B-9397-08002B2CF9AE}" pid="3" name="MSIP_Label_f43b7177-c66c-4b22-a350-7ee86f9a1e74_SetDate">
    <vt:lpwstr>2026-04-08T02:56:26Z</vt:lpwstr>
  </property>
  <property fmtid="{D5CDD505-2E9C-101B-9397-08002B2CF9AE}" pid="4" name="MSIP_Label_f43b7177-c66c-4b22-a350-7ee86f9a1e74_Method">
    <vt:lpwstr>Standard</vt:lpwstr>
  </property>
  <property fmtid="{D5CDD505-2E9C-101B-9397-08002B2CF9AE}" pid="5" name="MSIP_Label_f43b7177-c66c-4b22-a350-7ee86f9a1e74_Name">
    <vt:lpwstr>C1_Internal use</vt:lpwstr>
  </property>
  <property fmtid="{D5CDD505-2E9C-101B-9397-08002B2CF9AE}" pid="6" name="MSIP_Label_f43b7177-c66c-4b22-a350-7ee86f9a1e74_SiteId">
    <vt:lpwstr>e4e1abd9-eac7-4a71-ab52-da5c998aa7ba</vt:lpwstr>
  </property>
  <property fmtid="{D5CDD505-2E9C-101B-9397-08002B2CF9AE}" pid="7" name="MSIP_Label_f43b7177-c66c-4b22-a350-7ee86f9a1e74_ActionId">
    <vt:lpwstr>7acee7d8-4d8b-4b1b-8704-981db960dfa0</vt:lpwstr>
  </property>
  <property fmtid="{D5CDD505-2E9C-101B-9397-08002B2CF9AE}" pid="8" name="MSIP_Label_f43b7177-c66c-4b22-a350-7ee86f9a1e74_ContentBits">
    <vt:lpwstr>2</vt:lpwstr>
  </property>
  <property fmtid="{D5CDD505-2E9C-101B-9397-08002B2CF9AE}" pid="9" name="MSIP_Label_f43b7177-c66c-4b22-a350-7ee86f9a1e74_Tag">
    <vt:lpwstr>50, 3, 0, 1</vt:lpwstr>
  </property>
  <property fmtid="{D5CDD505-2E9C-101B-9397-08002B2CF9AE}" pid="10" name="ClassificationContentMarkingFooterLocations">
    <vt:lpwstr>Office 主题​​:8</vt:lpwstr>
  </property>
  <property fmtid="{D5CDD505-2E9C-101B-9397-08002B2CF9AE}" pid="11" name="ClassificationContentMarkingFooterText">
    <vt:lpwstr>C1 - Internal use</vt:lpwstr>
  </property>
</Properties>
</file>